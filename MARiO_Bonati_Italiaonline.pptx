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MARiO è l'assistente vocale AI di Italiaonline. Questa proposta è pensata per Corriere e Traslochi Bonati Omar.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Domanda di apertura. Il titolare è spesso alla guida o sul carico: chi risponde in quel momento? Il dato del 21x è riportato nella presentazione di prodotto MARiO.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dati dalla presentazione di prodotto MARiO. Da verificare la fonte originale prima di citarli in forma scritta al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MARiO risponde al telefono e in chat, raccoglie i contatti e mantiene viva l'esperienza del brand 24 ore su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 di utilizzo costruiti sui servizi dichiarati sul sito: corriere, distribuzione merci, traslochi anche all'estero, deposito merce. Sono scenari, non funzioni aggiuntive.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benefici dalla presentazione di prodotto: niente code, assistenza H24, 57 lingue.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numero dedicato compare sulle directory Italiaonline e sul sito, da desktop e da mobile. Il sito di Bonati è già realizzato da Italiaonline.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Nella dashboard si leggono le chat e si ascoltano le chiamate. Per ogni conversazione arriva anche un'email di riepilogo.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sinistra il CRM con i contatti raccolti da MARiO. A destra la base di conoscenza, che si amplia con testo, sito web o file e si aggiorna con il refresh.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Dati dalla scheda di prodotto. Nota sui minuti voce: la scheda riporta minuti illimitati, con 300 minuti ricaricabili da settembre. Confermare con il prodotto prima dell'incontro. Nessun prezzo in questo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Elenco dalla scheda di prodotto. Documento d'identità e bolletta servono per l'attivazione del numero. La voce 'documenti nascosti' è da chiarire con il prodotto.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Chiusura. Prossimo passo: raccolta dei materiali e configurazione. Nessun prezzo in questo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2" y="201168"/>
            <a:ext cx="274320" cy="274320"/>
          </a:xfrm>
          <a:prstGeom prst="ellipse">
            <a:avLst/>
          </a:prstGeom>
          <a:solidFill>
            <a:srgbClr val="FFCE06"/>
          </a:solidFill>
          <a:ln w="12700">
            <a:solidFill>
              <a:srgbClr val="FFCE06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577072" y="621792"/>
            <a:ext cx="365760" cy="365760"/>
          </a:xfrm>
          <a:prstGeom prst="ellipse">
            <a:avLst/>
          </a:prstGeom>
          <a:solidFill>
            <a:srgbClr val="8ED800"/>
          </a:solidFill>
          <a:ln w="12700">
            <a:solidFill>
              <a:srgbClr val="8ED8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411480"/>
            <a:ext cx="1783080" cy="537796"/>
          </a:xfrm>
          <a:prstGeom prst="roundRect">
            <a:avLst>
              <a:gd name="adj" fmla="val 204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tmp/claude-0/-home-user-Code/a545fc2a-0163-5c24-9705-d77b8ce5687b/scratchpad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417320" cy="2634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1600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MARiO</a:t>
            </a:r>
            <a:endParaRPr lang="en-US" sz="6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651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L'assistente AI che risponde al telefono quando tu non puoi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E0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Proposta per Corriere e Traslochi Bonati Omar</a:t>
            </a:r>
            <a:endParaRPr lang="en-US" sz="1300" dirty="0"/>
          </a:p>
        </p:txBody>
      </p:sp>
      <p:pic>
        <p:nvPicPr>
          <p:cNvPr id="10" name="Image 1" descr="/tmp/claude-0/-home-user-Code/a545fc2a-0163-5c24-9705-d77b8ce5687b/scratchpad/char/me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548640"/>
            <a:ext cx="3108960" cy="33609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2" y="201168"/>
            <a:ext cx="274320" cy="274320"/>
          </a:xfrm>
          <a:prstGeom prst="ellipse">
            <a:avLst/>
          </a:prstGeom>
          <a:solidFill>
            <a:srgbClr val="FFCE06"/>
          </a:solidFill>
          <a:ln w="12700">
            <a:solidFill>
              <a:srgbClr val="FFCE06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577072" y="621792"/>
            <a:ext cx="365760" cy="365760"/>
          </a:xfrm>
          <a:prstGeom prst="ellipse">
            <a:avLst/>
          </a:prstGeom>
          <a:solidFill>
            <a:srgbClr val="8ED800"/>
          </a:solidFill>
          <a:ln w="12700">
            <a:solidFill>
              <a:srgbClr val="8ED8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5486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Quando sei sul furgone, chi risponde al telefono?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488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Rispondere subito può moltiplicare </a:t>
            </a:r>
            <a:pPr indent="0" marL="0">
              <a:buNone/>
            </a:pPr>
            <a:r>
              <a:rPr lang="en-US" sz="1800" b="1" dirty="0">
                <a:solidFill>
                  <a:srgbClr val="FFCE0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fino a 21 volte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la possibilità di acquisire un nuovo cliente.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520440"/>
            <a:ext cx="5120640" cy="777240"/>
          </a:xfrm>
          <a:prstGeom prst="roundRect">
            <a:avLst>
              <a:gd name="adj" fmla="val 17647"/>
            </a:avLst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520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non rispondi, il cliente chiama il tuo concorrente.</a:t>
            </a:r>
            <a:endParaRPr lang="en-US" sz="1500" dirty="0"/>
          </a:p>
        </p:txBody>
      </p:sp>
      <p:pic>
        <p:nvPicPr>
          <p:cNvPr id="9" name="Image 0" descr="/tmp/claude-0/-home-user-Code/a545fc2a-0163-5c24-9705-d77b8ce5687b/scratchpad/char/sh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822960"/>
            <a:ext cx="2834640" cy="306609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4709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9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Fonte: presentazione di prodotto MARiO, Italiaonline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chiamata persa è un preventivo che va altrove</a:t>
            </a:r>
            <a:endParaRPr lang="en-US" sz="2400" dirty="0"/>
          </a:p>
        </p:txBody>
      </p:sp>
      <p:pic>
        <p:nvPicPr>
          <p:cNvPr id="3" name="Image 0" descr="/tmp/claude-0/-home-user-Code/a545fc2a-0163-5c24-9705-d77b8ce5687b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63440"/>
            <a:ext cx="1417320" cy="2634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457200" y="1234440"/>
            <a:ext cx="2606040" cy="3017520"/>
          </a:xfrm>
          <a:prstGeom prst="roundRect">
            <a:avLst>
              <a:gd name="adj" fmla="val 5263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85800" y="1463040"/>
            <a:ext cx="201168" cy="201168"/>
          </a:xfrm>
          <a:prstGeom prst="ellipse">
            <a:avLst/>
          </a:prstGeom>
          <a:solidFill>
            <a:srgbClr val="20C3F3"/>
          </a:solidFill>
          <a:ln w="12700">
            <a:solidFill>
              <a:srgbClr val="20C3F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61%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dei clienti preferisce risposte rapide tramite AI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Gli utenti vogliono informazioni immediate, disponibili in qualsiasi momento.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46120" y="1234440"/>
            <a:ext cx="2606040" cy="3017520"/>
          </a:xfrm>
          <a:prstGeom prst="roundRect">
            <a:avLst>
              <a:gd name="adj" fmla="val 5263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74720" y="1463040"/>
            <a:ext cx="201168" cy="201168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7472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30%</a:t>
            </a: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cambia azienda se non trova subito risposta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chiamata persa può significare un cliente perso.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1234440"/>
            <a:ext cx="2606040" cy="3017520"/>
          </a:xfrm>
          <a:prstGeom prst="roundRect">
            <a:avLst>
              <a:gd name="adj" fmla="val 5263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63640" y="1463040"/>
            <a:ext cx="201168" cy="201168"/>
          </a:xfrm>
          <a:prstGeom prst="ellipse">
            <a:avLst/>
          </a:prstGeom>
          <a:solidFill>
            <a:srgbClr val="8ED800"/>
          </a:solidFill>
          <a:ln w="12700">
            <a:solidFill>
              <a:srgbClr val="8ED80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26364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30%</a:t>
            </a:r>
            <a:endParaRPr lang="en-US" sz="4400" dirty="0"/>
          </a:p>
        </p:txBody>
      </p:sp>
      <p:sp>
        <p:nvSpPr>
          <p:cNvPr id="19" name="Text 15"/>
          <p:cNvSpPr txBox="1"/>
          <p:nvPr/>
        </p:nvSpPr>
        <p:spPr>
          <a:xfrm>
            <a:off x="626364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delle lead non viene gestito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26364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Molte aziende perdono opportunità perché non riescono a rispondere a tutte le chiamate.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2103120" y="4681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Fonte: presentazione di prodotto MARiO, Italiaonline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MARiO, il receptionist vocale intelligente</a:t>
            </a:r>
            <a:endParaRPr lang="en-US" sz="2400" dirty="0"/>
          </a:p>
        </p:txBody>
      </p:sp>
      <p:pic>
        <p:nvPicPr>
          <p:cNvPr id="3" name="Image 0" descr="/tmp/claude-0/-home-user-Code/a545fc2a-0163-5c24-9705-d77b8ce5687b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63440"/>
            <a:ext cx="1417320" cy="2634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188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L'assistente vocale AI di Italiaonline che trasforma ogni chiamata in un'opportunità. Comprende e interagisce con i clienti come farebbe un operatore umano.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57200" y="2313432"/>
            <a:ext cx="292608" cy="292608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14400" y="2240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Risponde al telefono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modo naturale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862072"/>
            <a:ext cx="292608" cy="292608"/>
          </a:xfrm>
          <a:prstGeom prst="ellipse">
            <a:avLst/>
          </a:prstGeom>
          <a:solidFill>
            <a:srgbClr val="20C3F3"/>
          </a:solidFill>
          <a:ln w="12700">
            <a:solidFill>
              <a:srgbClr val="20C3F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Risponde in chat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sul sito web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410712"/>
            <a:ext cx="292608" cy="292608"/>
          </a:xfrm>
          <a:prstGeom prst="ellipse">
            <a:avLst/>
          </a:prstGeom>
          <a:solidFill>
            <a:srgbClr val="8ED800"/>
          </a:solidFill>
          <a:ln w="12700">
            <a:solidFill>
              <a:srgbClr val="8ED8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14400" y="3337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Acquisisce nuovi contatti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li raccoglie in un unico posto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959352"/>
            <a:ext cx="292608" cy="292608"/>
          </a:xfrm>
          <a:prstGeom prst="ellipse">
            <a:avLst/>
          </a:prstGeom>
          <a:solidFill>
            <a:srgbClr val="FFCE06"/>
          </a:solidFill>
          <a:ln w="12700">
            <a:solidFill>
              <a:srgbClr val="FFCE0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14400" y="3886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Mantiene viva l'esperienza del brand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ore su 24, 7 giorni su 7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23560" y="868680"/>
            <a:ext cx="3017520" cy="3017520"/>
          </a:xfrm>
          <a:prstGeom prst="ellipse">
            <a:avLst/>
          </a:prstGeom>
          <a:solidFill>
            <a:srgbClr val="EAF8FE"/>
          </a:solidFill>
          <a:ln w="12700">
            <a:solidFill>
              <a:srgbClr val="EAF8FE"/>
            </a:solidFill>
            <a:prstDash val="solid"/>
          </a:ln>
        </p:spPr>
      </p:sp>
      <p:pic>
        <p:nvPicPr>
          <p:cNvPr id="16" name="Image 1" descr="/tmp/claude-0/-home-user-Code/a545fc2a-0163-5c24-9705-d77b8ce5687b/scratchpad/char/m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685800"/>
            <a:ext cx="2651760" cy="2866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Cosa farebbe MARiO per Bonati</a:t>
            </a:r>
            <a:endParaRPr lang="en-US" sz="2400" dirty="0"/>
          </a:p>
        </p:txBody>
      </p:sp>
      <p:pic>
        <p:nvPicPr>
          <p:cNvPr id="3" name="Image 0" descr="/tmp/claude-0/-home-user-Code/a545fc2a-0163-5c24-9705-d77b8ce5687b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63440"/>
            <a:ext cx="1417320" cy="2634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457200" y="1280160"/>
            <a:ext cx="1965960" cy="2926080"/>
          </a:xfrm>
          <a:prstGeom prst="roundRect">
            <a:avLst>
              <a:gd name="adj" fmla="val 6977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Preventivi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6974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Raccoglie i dati di un trasloco o di una spedizione e li passa al tuo team.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560320" y="1280160"/>
            <a:ext cx="1965960" cy="2926080"/>
          </a:xfrm>
          <a:prstGeom prst="roundRect">
            <a:avLst>
              <a:gd name="adj" fmla="val 6977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88920" y="1508760"/>
            <a:ext cx="640080" cy="640080"/>
          </a:xfrm>
          <a:prstGeom prst="ellipse">
            <a:avLst/>
          </a:prstGeom>
          <a:solidFill>
            <a:srgbClr val="20C3F3"/>
          </a:solidFill>
          <a:ln w="12700">
            <a:solidFill>
              <a:srgbClr val="20C3F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7889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Informazioni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788920" y="26974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Risponde su servizi, zone servite e deposito merce con le tue regole.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63440" y="1280160"/>
            <a:ext cx="1965960" cy="2926080"/>
          </a:xfrm>
          <a:prstGeom prst="roundRect">
            <a:avLst>
              <a:gd name="adj" fmla="val 6977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rgbClr val="8ED800"/>
          </a:solidFill>
          <a:ln w="12700">
            <a:solidFill>
              <a:srgbClr val="8ED80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8920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489204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Fuori orario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892040" y="26974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Prende la richiesta di sera, nel weekend e nei giorni festivi.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766560" y="1280160"/>
            <a:ext cx="1965960" cy="2926080"/>
          </a:xfrm>
          <a:prstGeom prst="roundRect">
            <a:avLst>
              <a:gd name="adj" fmla="val 6977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995160" y="1508760"/>
            <a:ext cx="640080" cy="640080"/>
          </a:xfrm>
          <a:prstGeom prst="ellipse">
            <a:avLst/>
          </a:prstGeom>
          <a:solidFill>
            <a:srgbClr val="FFCE06"/>
          </a:solidFill>
          <a:ln w="12700">
            <a:solidFill>
              <a:srgbClr val="FFCE0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951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699516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Clienti stranieri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995160" y="26974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Risponde nella lingua del cliente, utile per i traslochi all'estero.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vantaggi per i tuoi clienti</a:t>
            </a:r>
            <a:endParaRPr lang="en-US" sz="2400" dirty="0"/>
          </a:p>
        </p:txBody>
      </p:sp>
      <p:pic>
        <p:nvPicPr>
          <p:cNvPr id="3" name="Image 0" descr="/tmp/claude-0/-home-user-Code/a545fc2a-0163-5c24-9705-d77b8ce5687b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63440"/>
            <a:ext cx="1417320" cy="2634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457200" y="1143000"/>
            <a:ext cx="2606040" cy="3291840"/>
          </a:xfrm>
          <a:prstGeom prst="roundRect">
            <a:avLst>
              <a:gd name="adj" fmla="val 5263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7" name="Image 1" descr="/tmp/claude-0/-home-user-Code/a545fc2a-0163-5c24-9705-d77b8ce5687b/scratchpad/char/su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43000" cy="123564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645920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Niente più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1645920" y="17373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8F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685800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Niente telefono occupato, attese o passaggi da un operatore all'altro. MARiO risponde subito.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3246120" y="1143000"/>
            <a:ext cx="2606040" cy="3291840"/>
          </a:xfrm>
          <a:prstGeom prst="roundRect">
            <a:avLst>
              <a:gd name="adj" fmla="val 5263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12" name="Image 2" descr="/tmp/claude-0/-home-user-Code/a545fc2a-0163-5c24-9705-d77b8ce5687b/scratchpad/char/do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188720"/>
            <a:ext cx="1143000" cy="123564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434840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Assistenza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4434840" y="17373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00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H24</a:t>
            </a:r>
            <a:endParaRPr lang="en-US" sz="2400" dirty="0"/>
          </a:p>
        </p:txBody>
      </p:sp>
      <p:sp>
        <p:nvSpPr>
          <p:cNvPr id="15" name="Text 9"/>
          <p:cNvSpPr txBox="1"/>
          <p:nvPr/>
        </p:nvSpPr>
        <p:spPr>
          <a:xfrm>
            <a:off x="3474720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Risposte istantanee fuori orario, nei weekend e nei festivi. MARiO è sempre pronto.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035040" y="1143000"/>
            <a:ext cx="2606040" cy="3291840"/>
          </a:xfrm>
          <a:prstGeom prst="roundRect">
            <a:avLst>
              <a:gd name="adj" fmla="val 5263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17" name="Image 3" descr="/tmp/claude-0/-home-user-Code/a545fc2a-0163-5c24-9705-d77b8ce5687b/scratchpad/char/bar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188720"/>
            <a:ext cx="1143000" cy="123564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223760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7223760" y="173736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E91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 LINGUE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6263640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MARiO risponde nella lingua usata dall'utente, per un'esperienza personalizzata e accessibile.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Dove i clienti trovano il numero di MARiO</a:t>
            </a:r>
            <a:endParaRPr lang="en-US" sz="2400" dirty="0"/>
          </a:p>
        </p:txBody>
      </p:sp>
      <p:pic>
        <p:nvPicPr>
          <p:cNvPr id="3" name="Image 0" descr="/tmp/claude-0/-home-user-Code/a545fc2a-0163-5c24-9705-d77b8ce5687b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63440"/>
            <a:ext cx="1417320" cy="2634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1" descr="/tmp/claude-0/-home-user-Code/a545fc2a-0163-5c24-9705-d77b8ce5687b/scratchpad/char/dir_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120640" cy="321993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897880" y="1280160"/>
            <a:ext cx="274320" cy="274320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35508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Sulle directory Italiaonline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635508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pulsante Assistenza AI accanto a Scrivici e Preventivo.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5897880" y="2331720"/>
            <a:ext cx="274320" cy="274320"/>
          </a:xfrm>
          <a:prstGeom prst="ellipse">
            <a:avLst/>
          </a:prstGeom>
          <a:solidFill>
            <a:srgbClr val="20C3F3"/>
          </a:solidFill>
          <a:ln w="12700">
            <a:solidFill>
              <a:srgbClr val="20C3F3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35508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Sul sito da desktop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35508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 numero in evidenza nella parte alta della pagina.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897880" y="3383280"/>
            <a:ext cx="274320" cy="274320"/>
          </a:xfrm>
          <a:prstGeom prst="ellipse">
            <a:avLst/>
          </a:prstGeom>
          <a:solidFill>
            <a:srgbClr val="8ED800"/>
          </a:solidFill>
          <a:ln w="12700">
            <a:solidFill>
              <a:srgbClr val="8ED80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5508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Sul sito da mobile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35508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tasto Chiama ora a portata di pollice.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2519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Immagine di esempio su un'attività di ristorazione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Ogni conversazione resta a tua disposizione</a:t>
            </a:r>
            <a:endParaRPr lang="en-US" sz="2400" dirty="0"/>
          </a:p>
        </p:txBody>
      </p:sp>
      <p:pic>
        <p:nvPicPr>
          <p:cNvPr id="3" name="Image 0" descr="/tmp/claude-0/-home-user-Code/a545fc2a-0163-5c24-9705-d77b8ce5687b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63440"/>
            <a:ext cx="1417320" cy="2634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Image 1" descr="/tmp/claude-0/-home-user-Code/a545fc2a-0163-5c24-9705-d77b8ce5687b/scratchpad/char/dash_con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394960" cy="278527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7" name="Shape 2"/>
          <p:cNvSpPr/>
          <p:nvPr/>
        </p:nvSpPr>
        <p:spPr>
          <a:xfrm>
            <a:off x="6126480" y="1280160"/>
            <a:ext cx="256032" cy="256032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53796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Tutte le interazioni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6537960" y="158191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gestite da MARiO nello stesso posto.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6126480" y="2286000"/>
            <a:ext cx="256032" cy="256032"/>
          </a:xfrm>
          <a:prstGeom prst="ellipse">
            <a:avLst/>
          </a:prstGeom>
          <a:solidFill>
            <a:srgbClr val="20C3F3"/>
          </a:solidFill>
          <a:ln w="12700">
            <a:solidFill>
              <a:srgbClr val="20C3F3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53796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Chat e voce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537960" y="258775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leggi le chat oppure ascolta le conversazioni voice.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126480" y="3291840"/>
            <a:ext cx="256032" cy="256032"/>
          </a:xfrm>
          <a:prstGeom prst="ellipse">
            <a:avLst/>
          </a:prstGeom>
          <a:solidFill>
            <a:srgbClr val="8ED800"/>
          </a:solidFill>
          <a:ln w="12700">
            <a:solidFill>
              <a:srgbClr val="8ED80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53796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 di riepilogo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537960" y="35935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ricevi una notifica di ogni conversazione gestita.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Lead raccolte e conoscenza sempre aggiornata</a:t>
            </a:r>
            <a:endParaRPr lang="en-US" sz="2400" dirty="0"/>
          </a:p>
        </p:txBody>
      </p:sp>
      <p:pic>
        <p:nvPicPr>
          <p:cNvPr id="3" name="Image 0" descr="/tmp/claude-0/-home-user-Code/a545fc2a-0163-5c24-9705-d77b8ce5687b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63440"/>
            <a:ext cx="1417320" cy="2634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000" dirty="0"/>
          </a:p>
        </p:txBody>
      </p:sp>
      <p:pic>
        <p:nvPicPr>
          <p:cNvPr id="6" name="Image 1" descr="/tmp/claude-0/-home-user-Code/a545fc2a-0163-5c24-9705-d77b8ce5687b/scratchpad/char/dash_c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840480" cy="216041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pic>
        <p:nvPicPr>
          <p:cNvPr id="7" name="Image 2" descr="/tmp/claude-0/-home-user-Code/a545fc2a-0163-5c24-9705-d77b8ce5687b/scratchpad/char/dash_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3840480" cy="240737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8" name="Text 2"/>
          <p:cNvSpPr txBox="1"/>
          <p:nvPr/>
        </p:nvSpPr>
        <p:spPr>
          <a:xfrm>
            <a:off x="457200" y="3611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Contatti nel CRM</a:t>
            </a:r>
            <a:endParaRPr lang="en-US" sz="1300" dirty="0"/>
          </a:p>
        </p:txBody>
      </p:sp>
      <p:sp>
        <p:nvSpPr>
          <p:cNvPr id="9" name="Text 3"/>
          <p:cNvSpPr txBox="1"/>
          <p:nvPr/>
        </p:nvSpPr>
        <p:spPr>
          <a:xfrm>
            <a:off x="457200" y="3931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 trovi tutte le lead raccolte da MARiO, da chiamata e da chat.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4846320" y="3611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 di conoscenza</a:t>
            </a:r>
            <a:endParaRPr lang="en-US" sz="1300" dirty="0"/>
          </a:p>
        </p:txBody>
      </p:sp>
      <p:sp>
        <p:nvSpPr>
          <p:cNvPr id="11" name="Text 5"/>
          <p:cNvSpPr txBox="1"/>
          <p:nvPr/>
        </p:nvSpPr>
        <p:spPr>
          <a:xfrm>
            <a:off x="4846320" y="3931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Aggiungi testo, un sito web o un file. Con il refresh MARiO impara aggiornamenti e nuove informazioni.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Cosa include MARiO</a:t>
            </a:r>
            <a:endParaRPr lang="en-US" sz="2400" dirty="0"/>
          </a:p>
        </p:txBody>
      </p:sp>
      <p:pic>
        <p:nvPicPr>
          <p:cNvPr id="3" name="Image 0" descr="/tmp/claude-0/-home-user-Code/a545fc2a-0163-5c24-9705-d77b8ce5687b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63440"/>
            <a:ext cx="1417320" cy="2634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Voce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Cosa trovi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6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A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Configurazione e assistenza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Addestrato e verificato da Italiaonline. 6 ore di assistenza all'anno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A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Volume messaggi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Chat: illimitati. Voce: minuti illimitati*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A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Versatilità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Multi-categoria (Food, Legal, Medical e altre)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A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Numero di telefono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Sempre incluso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 Da settembre 300 minuti ricaricabili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 renderlo operativo, prepara questi materiali</a:t>
            </a:r>
            <a:endParaRPr lang="en-US" sz="2400" dirty="0"/>
          </a:p>
        </p:txBody>
      </p:sp>
      <p:pic>
        <p:nvPicPr>
          <p:cNvPr id="3" name="Image 0" descr="/tmp/claude-0/-home-user-Code/a545fc2a-0163-5c24-9705-d77b8ce5687b/scratchpa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63440"/>
            <a:ext cx="1417320" cy="2634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457200" y="1234440"/>
            <a:ext cx="4069080" cy="502920"/>
          </a:xfrm>
          <a:prstGeom prst="roundRect">
            <a:avLst>
              <a:gd name="adj" fmla="val 49091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40080" y="1371600"/>
            <a:ext cx="228600" cy="228600"/>
          </a:xfrm>
          <a:prstGeom prst="ellipse">
            <a:avLst/>
          </a:prstGeom>
          <a:solidFill>
            <a:srgbClr val="20C3F3"/>
          </a:solidFill>
          <a:ln w="12700">
            <a:solidFill>
              <a:srgbClr val="20C3F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005840" y="12344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Brochure informative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617720" y="1234440"/>
            <a:ext cx="4069080" cy="502920"/>
          </a:xfrm>
          <a:prstGeom prst="roundRect">
            <a:avLst>
              <a:gd name="adj" fmla="val 49091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00600" y="1371600"/>
            <a:ext cx="228600" cy="228600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166360" y="12344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Schede tecniche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1874520"/>
            <a:ext cx="4069080" cy="502920"/>
          </a:xfrm>
          <a:prstGeom prst="roundRect">
            <a:avLst>
              <a:gd name="adj" fmla="val 49091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" y="2011680"/>
            <a:ext cx="228600" cy="228600"/>
          </a:xfrm>
          <a:prstGeom prst="ellipse">
            <a:avLst/>
          </a:prstGeom>
          <a:solidFill>
            <a:srgbClr val="8ED800"/>
          </a:solidFill>
          <a:ln w="12700">
            <a:solidFill>
              <a:srgbClr val="8ED80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05840" y="18745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Documenti interni non pubblici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17720" y="1874520"/>
            <a:ext cx="4069080" cy="502920"/>
          </a:xfrm>
          <a:prstGeom prst="roundRect">
            <a:avLst>
              <a:gd name="adj" fmla="val 49091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00600" y="2011680"/>
            <a:ext cx="228600" cy="228600"/>
          </a:xfrm>
          <a:prstGeom prst="ellipse">
            <a:avLst/>
          </a:prstGeom>
          <a:solidFill>
            <a:srgbClr val="20C3F3"/>
          </a:solidFill>
          <a:ln w="12700">
            <a:solidFill>
              <a:srgbClr val="20C3F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166360" y="18745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FAQ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514600"/>
            <a:ext cx="4069080" cy="502920"/>
          </a:xfrm>
          <a:prstGeom prst="roundRect">
            <a:avLst>
              <a:gd name="adj" fmla="val 49091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" y="2651760"/>
            <a:ext cx="228600" cy="228600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05840" y="2514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Prezzi e promo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617720" y="2514600"/>
            <a:ext cx="4069080" cy="502920"/>
          </a:xfrm>
          <a:prstGeom prst="roundRect">
            <a:avLst>
              <a:gd name="adj" fmla="val 49091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800600" y="2651760"/>
            <a:ext cx="228600" cy="228600"/>
          </a:xfrm>
          <a:prstGeom prst="ellipse">
            <a:avLst/>
          </a:prstGeom>
          <a:solidFill>
            <a:srgbClr val="8ED800"/>
          </a:solidFill>
          <a:ln w="12700">
            <a:solidFill>
              <a:srgbClr val="8ED80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166360" y="2514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Chiusure straordinarie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57200" y="3154680"/>
            <a:ext cx="4069080" cy="502920"/>
          </a:xfrm>
          <a:prstGeom prst="roundRect">
            <a:avLst>
              <a:gd name="adj" fmla="val 49091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0080" y="3291840"/>
            <a:ext cx="228600" cy="228600"/>
          </a:xfrm>
          <a:prstGeom prst="ellipse">
            <a:avLst/>
          </a:prstGeom>
          <a:solidFill>
            <a:srgbClr val="20C3F3"/>
          </a:solidFill>
          <a:ln w="12700">
            <a:solidFill>
              <a:srgbClr val="20C3F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05840" y="31546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Politiche di reso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617720" y="3154680"/>
            <a:ext cx="4069080" cy="502920"/>
          </a:xfrm>
          <a:prstGeom prst="roundRect">
            <a:avLst>
              <a:gd name="adj" fmla="val 49091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800600" y="3291840"/>
            <a:ext cx="228600" cy="228600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005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166360" y="31546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d'identità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57200" y="3794760"/>
            <a:ext cx="8229600" cy="502920"/>
          </a:xfrm>
          <a:prstGeom prst="roundRect">
            <a:avLst>
              <a:gd name="adj" fmla="val 49091"/>
            </a:avLst>
          </a:prstGeom>
          <a:solidFill>
            <a:srgbClr val="F4F8FC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40080" y="3931920"/>
            <a:ext cx="228600" cy="228600"/>
          </a:xfrm>
          <a:prstGeom prst="ellipse">
            <a:avLst/>
          </a:prstGeom>
          <a:solidFill>
            <a:srgbClr val="8ED800"/>
          </a:solidFill>
          <a:ln w="12700">
            <a:solidFill>
              <a:srgbClr val="8ED80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005840" y="3794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Bolletta utenza telefonica (ultimi 3 mesi)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45720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 Bonati: tariffe e tratte, zone servite, condizioni dei traslochi, orari e chiusure.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2" y="201168"/>
            <a:ext cx="274320" cy="274320"/>
          </a:xfrm>
          <a:prstGeom prst="ellipse">
            <a:avLst/>
          </a:prstGeom>
          <a:solidFill>
            <a:srgbClr val="FFCE06"/>
          </a:solidFill>
          <a:ln w="12700">
            <a:solidFill>
              <a:srgbClr val="FFCE06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577072" y="621792"/>
            <a:ext cx="365760" cy="365760"/>
          </a:xfrm>
          <a:prstGeom prst="ellipse">
            <a:avLst/>
          </a:prstGeom>
          <a:solidFill>
            <a:srgbClr val="8ED800"/>
          </a:solidFill>
          <a:ln w="12700">
            <a:solidFill>
              <a:srgbClr val="8ED8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411480"/>
            <a:ext cx="1783080" cy="537796"/>
          </a:xfrm>
          <a:prstGeom prst="roundRect">
            <a:avLst>
              <a:gd name="adj" fmla="val 204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tmp/claude-0/-home-user-Code/a545fc2a-0163-5c24-9705-d77b8ce5687b/scratchpad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417320" cy="2634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14173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Ogni chiamata può diventare un cliente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457200" y="2743200"/>
            <a:ext cx="384048" cy="384048"/>
          </a:xfrm>
          <a:prstGeom prst="ellipse">
            <a:avLst/>
          </a:prstGeom>
          <a:solidFill>
            <a:srgbClr val="FF00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720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05840" y="27432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Prepariamo insieme i materiali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3273552"/>
            <a:ext cx="384048" cy="384048"/>
          </a:xfrm>
          <a:prstGeom prst="ellipse">
            <a:avLst/>
          </a:prstGeom>
          <a:solidFill>
            <a:srgbClr val="FFCE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005840" y="32735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Italiaonline configura e verifica MARiO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3803904"/>
            <a:ext cx="384048" cy="384048"/>
          </a:xfrm>
          <a:prstGeom prst="ellipse">
            <a:avLst/>
          </a:prstGeom>
          <a:solidFill>
            <a:srgbClr val="8ED8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720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380390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MARiO risponde su sito e directory</a:t>
            </a:r>
            <a:endParaRPr lang="en-US" sz="1400" dirty="0"/>
          </a:p>
        </p:txBody>
      </p:sp>
      <p:pic>
        <p:nvPicPr>
          <p:cNvPr id="17" name="Image 1" descr="/tmp/claude-0/-home-user-Code/a545fc2a-0163-5c24-9705-d77b8ce5687b/scratchpad/char/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822960"/>
            <a:ext cx="2926080" cy="31650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Italiaonline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MARiO per Corriere e Traslochi Bonati Omar</dc:title>
  <dc:subject>PptxGenJS Presentation</dc:subject>
  <dc:creator>Italiaonline</dc:creator>
  <cp:lastModifiedBy>Italiaonline</cp:lastModifiedBy>
  <cp:revision>1</cp:revision>
  <dcterms:created xsi:type="dcterms:W3CDTF">2026-10-12T13:21:29Z</dcterms:created>
  <dcterms:modified xsi:type="dcterms:W3CDTF">2026-10-12T13:21:29Z</dcterms:modified>
</cp:coreProperties>
</file>